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notesMasterIdLst>
    <p:notesMasterId r:id="rId11"/>
  </p:notesMasterIdLst>
  <p:sldIdLst>
    <p:sldId id="256" r:id="rId2"/>
    <p:sldId id="257" r:id="rId3"/>
    <p:sldId id="260" r:id="rId4"/>
    <p:sldId id="262" r:id="rId5"/>
    <p:sldId id="259" r:id="rId6"/>
    <p:sldId id="258" r:id="rId7"/>
    <p:sldId id="261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A0"/>
    <a:srgbClr val="288ABA"/>
    <a:srgbClr val="771D82"/>
    <a:srgbClr val="131D82"/>
    <a:srgbClr val="8CBE42"/>
    <a:srgbClr val="AA0533"/>
    <a:srgbClr val="4C23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0" autoAdjust="0"/>
    <p:restoredTop sz="95195" autoAdjust="0"/>
  </p:normalViewPr>
  <p:slideViewPr>
    <p:cSldViewPr>
      <p:cViewPr varScale="1">
        <p:scale>
          <a:sx n="55" d="100"/>
          <a:sy n="55" d="100"/>
        </p:scale>
        <p:origin x="259" y="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2" d="100"/>
          <a:sy n="62" d="100"/>
        </p:scale>
        <p:origin x="3226" y="77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o-RO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UT Sans" panose="00000500000000000000" pitchFamily="2" charset="0"/>
                <a:ea typeface="+mn-ea"/>
                <a:cs typeface="+mn-cs"/>
              </a:defRPr>
            </a:pPr>
            <a:r>
              <a:rPr lang="ro-RO" sz="1800" dirty="0">
                <a:solidFill>
                  <a:schemeClr val="tx1"/>
                </a:solidFill>
                <a:latin typeface="UT Sans" panose="00000500000000000000" pitchFamily="2" charset="0"/>
              </a:rPr>
              <a:t>Timp mediu de inferență/imagine</a:t>
            </a:r>
            <a:endParaRPr lang="en-US" sz="1800" dirty="0">
              <a:solidFill>
                <a:schemeClr val="tx1"/>
              </a:solidFill>
              <a:latin typeface="UT Sans" panose="00000500000000000000" pitchFamily="2" charset="0"/>
            </a:endParaRPr>
          </a:p>
        </c:rich>
      </c:tx>
      <c:layout>
        <c:manualLayout>
          <c:xMode val="edge"/>
          <c:yMode val="edge"/>
          <c:x val="0.15085589354627613"/>
          <c:y val="2.490532097740774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UT Sans" panose="00000500000000000000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623960240291532E-2"/>
          <c:y val="0.15265664926119321"/>
          <c:w val="0.92417547619865159"/>
          <c:h val="0.689208143539606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Foaie1!$B$1</c:f>
              <c:strCache>
                <c:ptCount val="1"/>
                <c:pt idx="0">
                  <c:v>Serie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102992E-77C4-4B79-A91B-2DFD2339D540}" type="VALUE">
                      <a:rPr lang="en-US" smtClean="0"/>
                      <a:pPr/>
                      <a:t>[VALOARE]</a:t>
                    </a:fld>
                    <a:r>
                      <a:rPr lang="en-US"/>
                      <a:t> ms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3154-4596-B262-85E67BB91F8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 8,002 ms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154-4596-B262-85E67BB91F8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0,079 </a:t>
                    </a:r>
                    <a:r>
                      <a:rPr lang="en-US" dirty="0" err="1"/>
                      <a:t>ms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3154-4596-B262-85E67BB91F8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o-R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Foaie1!$A$2:$A$4</c:f>
              <c:strCache>
                <c:ptCount val="3"/>
                <c:pt idx="0">
                  <c:v> CPU (TensorFlow)</c:v>
                </c:pt>
                <c:pt idx="1">
                  <c:v>GPU (Tesla T4)</c:v>
                </c:pt>
                <c:pt idx="2">
                  <c:v>FPGA</c:v>
                </c:pt>
              </c:strCache>
            </c:strRef>
          </c:cat>
          <c:val>
            <c:numRef>
              <c:f>Foaie1!$B$2:$B$4</c:f>
              <c:numCache>
                <c:formatCode>General</c:formatCode>
                <c:ptCount val="3"/>
                <c:pt idx="0">
                  <c:v>8.68</c:v>
                </c:pt>
                <c:pt idx="1">
                  <c:v>8.0020000000000007</c:v>
                </c:pt>
                <c:pt idx="2">
                  <c:v>0.79700000000000004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54-4596-B262-85E67BB91F8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19656527"/>
        <c:axId val="141243423"/>
      </c:barChart>
      <c:catAx>
        <c:axId val="119656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UT Sans" panose="00000500000000000000" pitchFamily="2" charset="0"/>
                <a:ea typeface="+mn-ea"/>
                <a:cs typeface="+mn-cs"/>
              </a:defRPr>
            </a:pPr>
            <a:endParaRPr lang="ro-RO"/>
          </a:p>
        </c:txPr>
        <c:crossAx val="141243423"/>
        <c:crosses val="autoZero"/>
        <c:auto val="1"/>
        <c:lblAlgn val="ctr"/>
        <c:lblOffset val="100"/>
        <c:noMultiLvlLbl val="0"/>
      </c:catAx>
      <c:valAx>
        <c:axId val="141243423"/>
        <c:scaling>
          <c:orientation val="minMax"/>
          <c:max val="1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9656527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o-R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238C5E-99F2-4382-9729-1AA821B9F5E4}" type="datetimeFigureOut">
              <a:rPr lang="ro-RO" smtClean="0"/>
              <a:t>03.07.2026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36F490-BEBE-4250-BFE4-2EF72A62A75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37767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6F490-BEBE-4250-BFE4-2EF72A62A759}" type="slidenum">
              <a:rPr lang="ro-RO" smtClean="0"/>
              <a:t>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84853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6F490-BEBE-4250-BFE4-2EF72A62A759}" type="slidenum">
              <a:rPr lang="ro-RO" smtClean="0"/>
              <a:t>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29542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CD987-D5F0-423A-B571-656612AAA3E1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4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013176"/>
            <a:ext cx="3312368" cy="1270897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8064388" y="5857924"/>
            <a:ext cx="216000" cy="216000"/>
            <a:chOff x="2772000" y="1932221"/>
            <a:chExt cx="2340000" cy="2340000"/>
          </a:xfrm>
        </p:grpSpPr>
        <p:sp>
          <p:nvSpPr>
            <p:cNvPr id="9" name="Rectangle 8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624228" y="5857924"/>
            <a:ext cx="216000" cy="216000"/>
            <a:chOff x="2772000" y="1932221"/>
            <a:chExt cx="2340000" cy="2340000"/>
          </a:xfrm>
        </p:grpSpPr>
        <p:sp>
          <p:nvSpPr>
            <p:cNvPr id="15" name="Rectangle 14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8064388" y="4417764"/>
            <a:ext cx="216000" cy="216000"/>
          </a:xfrm>
          <a:prstGeom prst="rect">
            <a:avLst/>
          </a:prstGeom>
          <a:solidFill>
            <a:srgbClr val="0064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2">
                    <a:lumMod val="7500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135834" y="4489210"/>
            <a:ext cx="73108" cy="731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2">
                    <a:lumMod val="75000"/>
                  </a:schemeClr>
                </a:solidFill>
              </a:ln>
              <a:solidFill>
                <a:schemeClr val="tx1"/>
              </a:solidFill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5184068" y="5857924"/>
            <a:ext cx="216000" cy="216000"/>
            <a:chOff x="2772000" y="1932221"/>
            <a:chExt cx="2340000" cy="2340000"/>
          </a:xfrm>
        </p:grpSpPr>
        <p:sp>
          <p:nvSpPr>
            <p:cNvPr id="18" name="Rectangle 17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624228" y="4417764"/>
            <a:ext cx="216000" cy="216000"/>
            <a:chOff x="2772000" y="1932221"/>
            <a:chExt cx="2340000" cy="2340000"/>
          </a:xfrm>
        </p:grpSpPr>
        <p:sp>
          <p:nvSpPr>
            <p:cNvPr id="24" name="Rectangle 23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8064388" y="2977604"/>
            <a:ext cx="216000" cy="216000"/>
            <a:chOff x="2772000" y="1932221"/>
            <a:chExt cx="2340000" cy="2340000"/>
          </a:xfrm>
        </p:grpSpPr>
        <p:sp>
          <p:nvSpPr>
            <p:cNvPr id="27" name="Rectangle 26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71980" y="722392"/>
            <a:ext cx="806489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200" dirty="0">
                <a:latin typeface="UT Sans Bold" pitchFamily="50" charset="0"/>
              </a:rPr>
              <a:t>Sistem pentru recunoașterea cifrelor </a:t>
            </a:r>
          </a:p>
          <a:p>
            <a:pPr algn="ctr"/>
            <a:r>
              <a:rPr lang="ro-RO" sz="3200" dirty="0">
                <a:latin typeface="UT Sans Bold" pitchFamily="50" charset="0"/>
              </a:rPr>
              <a:t>scrise de mână implementat cu o rețea</a:t>
            </a:r>
          </a:p>
          <a:p>
            <a:pPr algn="ctr"/>
            <a:r>
              <a:rPr lang="ro-RO" sz="3200" dirty="0">
                <a:latin typeface="UT Sans Bold" pitchFamily="50" charset="0"/>
              </a:rPr>
              <a:t>neuronala </a:t>
            </a:r>
            <a:r>
              <a:rPr lang="ro-RO" sz="3200" dirty="0" err="1">
                <a:latin typeface="UT Sans Bold" pitchFamily="50" charset="0"/>
              </a:rPr>
              <a:t>convoluțională</a:t>
            </a:r>
            <a:r>
              <a:rPr lang="ro-RO" sz="3200" dirty="0">
                <a:latin typeface="UT Sans Bold" pitchFamily="50" charset="0"/>
              </a:rPr>
              <a:t> accelerată</a:t>
            </a:r>
          </a:p>
          <a:p>
            <a:pPr algn="ctr"/>
            <a:r>
              <a:rPr lang="ro-RO" sz="3200" dirty="0">
                <a:latin typeface="UT Sans Bold" pitchFamily="50" charset="0"/>
              </a:rPr>
              <a:t>pe FPGA</a:t>
            </a:r>
            <a:endParaRPr lang="en-US" sz="3200" dirty="0">
              <a:latin typeface="UT Sans Bold" pitchFamily="50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1107" y="3288881"/>
            <a:ext cx="49325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UT Sans Bold" pitchFamily="50" charset="0"/>
              </a:rPr>
              <a:t>Student</a:t>
            </a:r>
            <a:r>
              <a:rPr lang="ro-RO" sz="2400" dirty="0">
                <a:latin typeface="UT Sans Bold" pitchFamily="50" charset="0"/>
              </a:rPr>
              <a:t>ă</a:t>
            </a:r>
            <a:r>
              <a:rPr lang="en-US" sz="2400" dirty="0">
                <a:latin typeface="UT Sans Bold" pitchFamily="50" charset="0"/>
              </a:rPr>
              <a:t>: </a:t>
            </a:r>
            <a:r>
              <a:rPr lang="ro-RO" sz="2400" dirty="0">
                <a:latin typeface="UT Sans Bold" pitchFamily="50" charset="0"/>
              </a:rPr>
              <a:t>Terțiu Maria-Alexandra</a:t>
            </a:r>
          </a:p>
          <a:p>
            <a:endParaRPr lang="ro-RO" sz="2400" dirty="0">
              <a:latin typeface="UT Sans Bold" pitchFamily="50" charset="0"/>
            </a:endParaRPr>
          </a:p>
          <a:p>
            <a:r>
              <a:rPr lang="en-US" sz="2400" dirty="0">
                <a:latin typeface="UT Sans Bold" pitchFamily="50" charset="0"/>
              </a:rPr>
              <a:t>Co</a:t>
            </a:r>
            <a:r>
              <a:rPr lang="ro-RO" sz="2400" dirty="0">
                <a:latin typeface="UT Sans Bold" pitchFamily="50" charset="0"/>
              </a:rPr>
              <a:t>ordonator</a:t>
            </a:r>
            <a:r>
              <a:rPr lang="en-GB" sz="2400" dirty="0">
                <a:latin typeface="UT Sans Bold" pitchFamily="50" charset="0"/>
              </a:rPr>
              <a:t>: </a:t>
            </a:r>
            <a:r>
              <a:rPr lang="en-GB" sz="2000" dirty="0">
                <a:latin typeface="UT Sans Bold" pitchFamily="50" charset="0"/>
              </a:rPr>
              <a:t>Prof. Dr. Ing. </a:t>
            </a:r>
            <a:r>
              <a:rPr lang="ro-RO" sz="2000" dirty="0">
                <a:latin typeface="UT Sans Bold" pitchFamily="50" charset="0"/>
              </a:rPr>
              <a:t>Dan NICULA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95011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525856" y="2052434"/>
            <a:ext cx="86019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Blip>
                <a:blip r:embed="rId2"/>
              </a:buBlip>
            </a:pPr>
            <a:r>
              <a:rPr lang="ro-RO" sz="2000" dirty="0">
                <a:latin typeface="UT Sans" panose="00000500000000000000" pitchFamily="2" charset="0"/>
              </a:rPr>
              <a:t>Dezvoltarea aplicației software pentru preluarea și preprocesarea imaginilor</a:t>
            </a:r>
          </a:p>
          <a:p>
            <a:r>
              <a:rPr lang="ro-RO" sz="2000" dirty="0">
                <a:latin typeface="UT Sans" panose="00000500000000000000" pitchFamily="2" charset="0"/>
              </a:rPr>
              <a:t> </a:t>
            </a:r>
          </a:p>
          <a:p>
            <a:pPr marL="342900" indent="-342900">
              <a:buBlip>
                <a:blip r:embed="rId2"/>
              </a:buBlip>
            </a:pPr>
            <a:r>
              <a:rPr lang="ro-RO" sz="2000" dirty="0">
                <a:latin typeface="UT Sans" panose="00000500000000000000" pitchFamily="2" charset="0"/>
              </a:rPr>
              <a:t>Antrenarea rețelei CNN pentru clasificarea cifrelor 0–9 </a:t>
            </a:r>
          </a:p>
          <a:p>
            <a:pPr marL="342900" indent="-342900">
              <a:buBlip>
                <a:blip r:embed="rId2"/>
              </a:buBlip>
            </a:pPr>
            <a:endParaRPr lang="ro-RO" sz="2000" dirty="0">
              <a:latin typeface="UT Sans" panose="00000500000000000000" pitchFamily="2" charset="0"/>
            </a:endParaRPr>
          </a:p>
          <a:p>
            <a:pPr marL="342900" indent="-342900">
              <a:buBlip>
                <a:blip r:embed="rId2"/>
              </a:buBlip>
            </a:pPr>
            <a:r>
              <a:rPr lang="ro-RO" sz="2000" dirty="0">
                <a:latin typeface="UT Sans" panose="00000500000000000000" pitchFamily="2" charset="0"/>
              </a:rPr>
              <a:t>Cuantizarea modelului pentru implementare hardware </a:t>
            </a:r>
          </a:p>
          <a:p>
            <a:pPr marL="342900" indent="-342900">
              <a:buBlip>
                <a:blip r:embed="rId2"/>
              </a:buBlip>
            </a:pPr>
            <a:endParaRPr lang="ro-RO" sz="2000" dirty="0">
              <a:latin typeface="UT Sans" panose="00000500000000000000" pitchFamily="2" charset="0"/>
            </a:endParaRPr>
          </a:p>
          <a:p>
            <a:pPr marL="342900" indent="-342900">
              <a:buBlip>
                <a:blip r:embed="rId2"/>
              </a:buBlip>
            </a:pPr>
            <a:r>
              <a:rPr lang="ro-RO" sz="2000" dirty="0">
                <a:latin typeface="UT Sans" panose="00000500000000000000" pitchFamily="2" charset="0"/>
              </a:rPr>
              <a:t>Implementarea și optimizarea acceleratorului în </a:t>
            </a:r>
            <a:r>
              <a:rPr lang="ro-RO" sz="2000" dirty="0" err="1">
                <a:latin typeface="UT Sans" panose="00000500000000000000" pitchFamily="2" charset="0"/>
              </a:rPr>
              <a:t>Vitis</a:t>
            </a:r>
            <a:r>
              <a:rPr lang="ro-RO" sz="2000" dirty="0">
                <a:latin typeface="UT Sans" panose="00000500000000000000" pitchFamily="2" charset="0"/>
              </a:rPr>
              <a:t> HLS</a:t>
            </a:r>
          </a:p>
          <a:p>
            <a:pPr marL="342900" indent="-342900">
              <a:buBlip>
                <a:blip r:embed="rId2"/>
              </a:buBlip>
            </a:pPr>
            <a:endParaRPr lang="ro-RO" sz="2000" dirty="0">
              <a:latin typeface="UT Sans" panose="00000500000000000000" pitchFamily="2" charset="0"/>
            </a:endParaRPr>
          </a:p>
          <a:p>
            <a:pPr marL="342900" indent="-342900">
              <a:buBlip>
                <a:blip r:embed="rId2"/>
              </a:buBlip>
            </a:pPr>
            <a:r>
              <a:rPr lang="ro-RO" sz="2000" dirty="0">
                <a:latin typeface="UT Sans" panose="00000500000000000000" pitchFamily="2" charset="0"/>
              </a:rPr>
              <a:t>Integrarea și validarea sistemului complet</a:t>
            </a:r>
            <a:endParaRPr lang="ro-RO" sz="2000" dirty="0">
              <a:latin typeface="UT Sans" panose="00000500000000000000" pitchFamily="2" charset="0"/>
              <a:ea typeface="UT Symbols" charset="0"/>
              <a:cs typeface="UT Symbols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1"/>
            <a:ext cx="1944216" cy="531045"/>
          </a:xfrm>
          <a:prstGeom prst="rect">
            <a:avLst/>
          </a:prstGeom>
        </p:spPr>
      </p:pic>
      <p:sp>
        <p:nvSpPr>
          <p:cNvPr id="3" name="CasetăText 2">
            <a:extLst>
              <a:ext uri="{FF2B5EF4-FFF2-40B4-BE49-F238E27FC236}">
                <a16:creationId xmlns:a16="http://schemas.microsoft.com/office/drawing/2014/main" id="{5386AF2B-21AC-D14B-939D-1AFFDEA0875E}"/>
              </a:ext>
            </a:extLst>
          </p:cNvPr>
          <p:cNvSpPr txBox="1"/>
          <p:nvPr/>
        </p:nvSpPr>
        <p:spPr>
          <a:xfrm>
            <a:off x="525856" y="1088740"/>
            <a:ext cx="50405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000" b="1" dirty="0">
                <a:latin typeface="UT Sans" panose="00000500000000000000" pitchFamily="2" charset="0"/>
              </a:rPr>
              <a:t>Obiectivele lucrării</a:t>
            </a:r>
          </a:p>
        </p:txBody>
      </p:sp>
    </p:spTree>
    <p:extLst>
      <p:ext uri="{BB962C8B-B14F-4D97-AF65-F5344CB8AC3E}">
        <p14:creationId xmlns:p14="http://schemas.microsoft.com/office/powerpoint/2010/main" val="2490966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7BC6E-6BC7-550A-7D4A-8698D7E6B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DFE68F5-75A5-79CA-2176-00BA8512CDC4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4FFA86D-2986-6FF2-C1DB-766CDB4E9DEE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55D54FB-7F5C-628F-A996-B19C47D7A5C6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013C92C-2391-F45B-E777-BC10DC7EC0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1"/>
            <a:ext cx="1944216" cy="531045"/>
          </a:xfrm>
          <a:prstGeom prst="rect">
            <a:avLst/>
          </a:prstGeom>
        </p:spPr>
      </p:pic>
      <p:sp>
        <p:nvSpPr>
          <p:cNvPr id="3" name="CasetăText 2">
            <a:extLst>
              <a:ext uri="{FF2B5EF4-FFF2-40B4-BE49-F238E27FC236}">
                <a16:creationId xmlns:a16="http://schemas.microsoft.com/office/drawing/2014/main" id="{30671B0F-075C-6B5A-7985-D6139F72F1E3}"/>
              </a:ext>
            </a:extLst>
          </p:cNvPr>
          <p:cNvSpPr txBox="1"/>
          <p:nvPr/>
        </p:nvSpPr>
        <p:spPr>
          <a:xfrm>
            <a:off x="578055" y="971850"/>
            <a:ext cx="63367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000" b="1" dirty="0">
                <a:latin typeface="UT Sans" panose="00000500000000000000" pitchFamily="2" charset="0"/>
              </a:rPr>
              <a:t>Arhitectura sistemului</a:t>
            </a: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05CB545C-2A17-69C6-360B-2C1CCF402D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7" y="1916832"/>
            <a:ext cx="8395521" cy="333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580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E3B1B-EBA9-A526-0DB4-8073B36B6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5445FCC-5B57-43F3-49EC-77881DA3726A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FDCF1C-678D-E48C-23C3-4E2B83315318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6776FFB-C6EA-6931-488C-B1579E0F101A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14E14E34-824B-5CE2-96C1-53816B1803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1"/>
            <a:ext cx="1944216" cy="531045"/>
          </a:xfrm>
          <a:prstGeom prst="rect">
            <a:avLst/>
          </a:prstGeom>
        </p:spPr>
      </p:pic>
      <p:sp>
        <p:nvSpPr>
          <p:cNvPr id="3" name="CasetăText 2">
            <a:extLst>
              <a:ext uri="{FF2B5EF4-FFF2-40B4-BE49-F238E27FC236}">
                <a16:creationId xmlns:a16="http://schemas.microsoft.com/office/drawing/2014/main" id="{82DD148A-DEA8-E82A-78CC-E12399C11701}"/>
              </a:ext>
            </a:extLst>
          </p:cNvPr>
          <p:cNvSpPr txBox="1"/>
          <p:nvPr/>
        </p:nvSpPr>
        <p:spPr>
          <a:xfrm>
            <a:off x="899592" y="1009002"/>
            <a:ext cx="63367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000" b="1" dirty="0">
                <a:latin typeface="UT Sans" panose="00000500000000000000" pitchFamily="2" charset="0"/>
              </a:rPr>
              <a:t>Rețeaua neuronală </a:t>
            </a:r>
            <a:r>
              <a:rPr lang="ro-RO" sz="3000" b="1" dirty="0" err="1">
                <a:latin typeface="UT Sans" panose="00000500000000000000" pitchFamily="2" charset="0"/>
              </a:rPr>
              <a:t>convoluțională</a:t>
            </a:r>
            <a:endParaRPr lang="ro-RO" sz="3000" b="1" dirty="0">
              <a:latin typeface="UT Sans" panose="00000500000000000000" pitchFamily="2" charset="0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74524345-0838-00BC-BEAB-C2C696E87590}"/>
              </a:ext>
            </a:extLst>
          </p:cNvPr>
          <p:cNvSpPr txBox="1"/>
          <p:nvPr/>
        </p:nvSpPr>
        <p:spPr>
          <a:xfrm>
            <a:off x="791072" y="4653572"/>
            <a:ext cx="8352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Blip>
                <a:blip r:embed="rId4"/>
              </a:buBlip>
            </a:pPr>
            <a:r>
              <a:rPr lang="ro-RO" sz="1600" b="1" dirty="0">
                <a:latin typeface="UT Sans" panose="00000500000000000000" pitchFamily="2" charset="0"/>
                <a:ea typeface="UT Symbols" charset="0"/>
                <a:cs typeface="UT Symbols" charset="0"/>
              </a:rPr>
              <a:t>Model compact: </a:t>
            </a:r>
            <a:r>
              <a:rPr lang="ro-RO" sz="1600" dirty="0">
                <a:latin typeface="UT Sans" panose="00000500000000000000" pitchFamily="2" charset="0"/>
                <a:ea typeface="UT Symbols" charset="0"/>
                <a:cs typeface="UT Symbols" charset="0"/>
              </a:rPr>
              <a:t>2 straturi </a:t>
            </a:r>
            <a:r>
              <a:rPr lang="ro-RO" sz="1600" dirty="0" err="1">
                <a:latin typeface="UT Sans" panose="00000500000000000000" pitchFamily="2" charset="0"/>
                <a:ea typeface="UT Symbols" charset="0"/>
                <a:cs typeface="UT Symbols" charset="0"/>
              </a:rPr>
              <a:t>convoluționale</a:t>
            </a:r>
            <a:r>
              <a:rPr lang="ro-RO" sz="1600" dirty="0">
                <a:latin typeface="UT Sans" panose="00000500000000000000" pitchFamily="2" charset="0"/>
                <a:ea typeface="UT Symbols" charset="0"/>
                <a:cs typeface="UT Symbols" charset="0"/>
              </a:rPr>
              <a:t> + 2 straturi </a:t>
            </a:r>
            <a:r>
              <a:rPr lang="ro-RO" sz="1600" dirty="0" err="1">
                <a:latin typeface="UT Sans" panose="00000500000000000000" pitchFamily="2" charset="0"/>
                <a:ea typeface="UT Symbols" charset="0"/>
                <a:cs typeface="UT Symbols" charset="0"/>
              </a:rPr>
              <a:t>fully-connected</a:t>
            </a:r>
            <a:endParaRPr lang="ro-RO" sz="1600" dirty="0">
              <a:latin typeface="UT Sans" panose="00000500000000000000" pitchFamily="2" charset="0"/>
              <a:ea typeface="UT Symbols" charset="0"/>
              <a:cs typeface="UT Symbols" charset="0"/>
            </a:endParaRPr>
          </a:p>
          <a:p>
            <a:pPr marL="342900" indent="-342900">
              <a:buBlip>
                <a:blip r:embed="rId4"/>
              </a:buBlip>
            </a:pPr>
            <a:r>
              <a:rPr lang="ro-RO" sz="1600" b="1" dirty="0">
                <a:latin typeface="UT Sans" panose="00000500000000000000" pitchFamily="2" charset="0"/>
                <a:ea typeface="UT Symbols" charset="0"/>
                <a:cs typeface="UT Symbols" charset="0"/>
              </a:rPr>
              <a:t>Antrenare (</a:t>
            </a:r>
            <a:r>
              <a:rPr lang="ro-RO" sz="1600" b="1" dirty="0" err="1">
                <a:latin typeface="UT Sans" panose="00000500000000000000" pitchFamily="2" charset="0"/>
                <a:ea typeface="UT Symbols" charset="0"/>
                <a:cs typeface="UT Symbols" charset="0"/>
              </a:rPr>
              <a:t>TensorFlow</a:t>
            </a:r>
            <a:r>
              <a:rPr lang="ro-RO" sz="1600" b="1" dirty="0">
                <a:latin typeface="UT Sans" panose="00000500000000000000" pitchFamily="2" charset="0"/>
                <a:ea typeface="UT Symbols" charset="0"/>
                <a:cs typeface="UT Symbols" charset="0"/>
              </a:rPr>
              <a:t>/</a:t>
            </a:r>
            <a:r>
              <a:rPr lang="ro-RO" sz="1600" b="1" dirty="0" err="1">
                <a:latin typeface="UT Sans" panose="00000500000000000000" pitchFamily="2" charset="0"/>
                <a:ea typeface="UT Symbols" charset="0"/>
                <a:cs typeface="UT Symbols" charset="0"/>
              </a:rPr>
              <a:t>Keras</a:t>
            </a:r>
            <a:r>
              <a:rPr lang="ro-RO" sz="1600" b="1" dirty="0">
                <a:latin typeface="UT Sans" panose="00000500000000000000" pitchFamily="2" charset="0"/>
                <a:ea typeface="UT Symbols" charset="0"/>
                <a:cs typeface="UT Symbols" charset="0"/>
              </a:rPr>
              <a:t>):  </a:t>
            </a:r>
            <a:r>
              <a:rPr lang="ro-RO" sz="1600" dirty="0">
                <a:latin typeface="UT Sans" panose="00000500000000000000" pitchFamily="2" charset="0"/>
                <a:ea typeface="UT Symbols" charset="0"/>
                <a:cs typeface="UT Symbols" charset="0"/>
              </a:rPr>
              <a:t>MNIST (55.000) + imagini proprii, augmentate (35.700)</a:t>
            </a:r>
          </a:p>
          <a:p>
            <a:pPr marL="342900" indent="-342900">
              <a:buBlip>
                <a:blip r:embed="rId4"/>
              </a:buBlip>
            </a:pPr>
            <a:r>
              <a:rPr lang="ro-RO" sz="1600" b="1" dirty="0">
                <a:latin typeface="UT Sans" panose="00000500000000000000" pitchFamily="2" charset="0"/>
                <a:ea typeface="UT Symbols" charset="0"/>
                <a:cs typeface="UT Symbols" charset="0"/>
              </a:rPr>
              <a:t>Acuratețe:</a:t>
            </a:r>
            <a:r>
              <a:rPr lang="ro-RO" sz="1600" dirty="0">
                <a:latin typeface="UT Sans" panose="00000500000000000000" pitchFamily="2" charset="0"/>
                <a:ea typeface="UT Symbols" charset="0"/>
                <a:cs typeface="UT Symbols" charset="0"/>
              </a:rPr>
              <a:t> 98,33% ( evaluat pe setul MNIST test – 10.000)</a:t>
            </a: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BF9AE444-5A58-7A02-AFD6-2F2CC03C90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78" y="1699286"/>
            <a:ext cx="7608244" cy="278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837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1"/>
            <a:ext cx="1944216" cy="531045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314E4A19-B156-0BDF-1A31-4958CA02B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112" y="1724523"/>
            <a:ext cx="3094815" cy="2784597"/>
          </a:xfrm>
          <a:prstGeom prst="rect">
            <a:avLst/>
          </a:prstGeom>
        </p:spPr>
      </p:pic>
      <p:sp>
        <p:nvSpPr>
          <p:cNvPr id="8" name="Titlu 7">
            <a:extLst>
              <a:ext uri="{FF2B5EF4-FFF2-40B4-BE49-F238E27FC236}">
                <a16:creationId xmlns:a16="http://schemas.microsoft.com/office/drawing/2014/main" id="{4E658220-23C7-231C-D313-0CA3C6B0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32" y="647475"/>
            <a:ext cx="7886700" cy="1325563"/>
          </a:xfrm>
        </p:spPr>
        <p:txBody>
          <a:bodyPr/>
          <a:lstStyle/>
          <a:p>
            <a:r>
              <a:rPr lang="ro-RO" b="1" dirty="0">
                <a:latin typeface="UT Sans" panose="00000500000000000000" pitchFamily="2" charset="0"/>
              </a:rPr>
              <a:t>Accelerator hardware (</a:t>
            </a:r>
            <a:r>
              <a:rPr lang="ro-RO" b="1" dirty="0" err="1">
                <a:latin typeface="UT Sans" panose="00000500000000000000" pitchFamily="2" charset="0"/>
              </a:rPr>
              <a:t>Vitis</a:t>
            </a:r>
            <a:r>
              <a:rPr lang="ro-RO" b="1" dirty="0">
                <a:latin typeface="UT Sans" panose="00000500000000000000" pitchFamily="2" charset="0"/>
              </a:rPr>
              <a:t> HLS)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3486D337-F5E1-9FF7-09BB-B480E1F38ED4}"/>
              </a:ext>
            </a:extLst>
          </p:cNvPr>
          <p:cNvSpPr txBox="1"/>
          <p:nvPr/>
        </p:nvSpPr>
        <p:spPr>
          <a:xfrm>
            <a:off x="454541" y="1772816"/>
            <a:ext cx="53005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Blip>
                <a:blip r:embed="rId5"/>
              </a:buBlip>
            </a:pPr>
            <a:r>
              <a:rPr lang="ro-RO" dirty="0">
                <a:latin typeface="UT Sans" panose="00000500000000000000" pitchFamily="2" charset="0"/>
                <a:ea typeface="UT Symbols" charset="0"/>
                <a:cs typeface="UT Symbols" charset="0"/>
              </a:rPr>
              <a:t>Model CNN -&gt; cod C/C++ sintetizabil</a:t>
            </a:r>
          </a:p>
          <a:p>
            <a:pPr marL="342900" indent="-342900">
              <a:buBlip>
                <a:blip r:embed="rId5"/>
              </a:buBlip>
            </a:pPr>
            <a:r>
              <a:rPr lang="ro-RO" dirty="0" err="1">
                <a:latin typeface="UT Sans" panose="00000500000000000000" pitchFamily="2" charset="0"/>
                <a:ea typeface="UT Symbols" charset="0"/>
                <a:cs typeface="UT Symbols" charset="0"/>
              </a:rPr>
              <a:t>Fixed-point</a:t>
            </a:r>
            <a:r>
              <a:rPr lang="ro-RO" dirty="0">
                <a:latin typeface="UT Sans" panose="00000500000000000000" pitchFamily="2" charset="0"/>
                <a:ea typeface="UT Symbols" charset="0"/>
                <a:cs typeface="UT Symbols" charset="0"/>
              </a:rPr>
              <a:t> cu precizie mixtă </a:t>
            </a:r>
          </a:p>
          <a:p>
            <a:r>
              <a:rPr lang="ro-RO" sz="1600" dirty="0">
                <a:latin typeface="UT Sans" panose="00000500000000000000" pitchFamily="2" charset="0"/>
                <a:ea typeface="UT Symbols" charset="0"/>
                <a:cs typeface="UT Symbols" charset="0"/>
              </a:rPr>
              <a:t>         date/greutăți </a:t>
            </a:r>
            <a:r>
              <a:rPr lang="ro-RO" sz="1600" dirty="0" err="1">
                <a:solidFill>
                  <a:srgbClr val="2B2B2E"/>
                </a:solidFill>
                <a:latin typeface="UT Sans" panose="00000500000000000000" pitchFamily="2" charset="0"/>
              </a:rPr>
              <a:t>ap_fixed</a:t>
            </a:r>
            <a:r>
              <a:rPr lang="ro-RO" sz="1600" dirty="0">
                <a:solidFill>
                  <a:srgbClr val="2B2B2E"/>
                </a:solidFill>
                <a:latin typeface="UT Sans" panose="00000500000000000000" pitchFamily="2" charset="0"/>
              </a:rPr>
              <a:t>&lt;8,4&gt;</a:t>
            </a:r>
            <a:endParaRPr lang="ro-RO" sz="1600" dirty="0">
              <a:latin typeface="UT Sans" panose="00000500000000000000" pitchFamily="2" charset="0"/>
              <a:ea typeface="UT Symbols" charset="0"/>
              <a:cs typeface="UT Symbols" charset="0"/>
            </a:endParaRPr>
          </a:p>
          <a:p>
            <a:r>
              <a:rPr lang="ro-RO" sz="1600" dirty="0">
                <a:latin typeface="UT Sans" panose="00000500000000000000" pitchFamily="2" charset="0"/>
                <a:ea typeface="UT Symbols" charset="0"/>
                <a:cs typeface="UT Symbols" charset="0"/>
              </a:rPr>
              <a:t>         acumulări </a:t>
            </a:r>
            <a:r>
              <a:rPr lang="ro-RO" sz="1600" dirty="0" err="1">
                <a:solidFill>
                  <a:srgbClr val="2B2B2E"/>
                </a:solidFill>
                <a:latin typeface="UT Sans" panose="00000500000000000000" pitchFamily="2" charset="0"/>
              </a:rPr>
              <a:t>ap_fixed</a:t>
            </a:r>
            <a:r>
              <a:rPr lang="ro-RO" sz="1600" dirty="0">
                <a:solidFill>
                  <a:srgbClr val="2B2B2E"/>
                </a:solidFill>
                <a:latin typeface="UT Sans" panose="00000500000000000000" pitchFamily="2" charset="0"/>
              </a:rPr>
              <a:t>&lt;12,7&gt;,</a:t>
            </a:r>
            <a:endParaRPr lang="ro-RO" sz="1600" dirty="0">
              <a:latin typeface="UT Sans" panose="00000500000000000000" pitchFamily="2" charset="0"/>
              <a:ea typeface="UT Symbols" charset="0"/>
              <a:cs typeface="UT Symbols" charset="0"/>
            </a:endParaRPr>
          </a:p>
          <a:p>
            <a:r>
              <a:rPr lang="ro-RO" sz="1600" dirty="0">
                <a:latin typeface="UT Sans" panose="00000500000000000000" pitchFamily="2" charset="0"/>
                <a:ea typeface="UT Symbols" charset="0"/>
                <a:cs typeface="UT Symbols" charset="0"/>
              </a:rPr>
              <a:t>         scoruri </a:t>
            </a:r>
            <a:r>
              <a:rPr lang="ro-RO" sz="1600" dirty="0" err="1">
                <a:solidFill>
                  <a:srgbClr val="2B2B2E"/>
                </a:solidFill>
                <a:latin typeface="UT Sans" panose="00000500000000000000" pitchFamily="2" charset="0"/>
              </a:rPr>
              <a:t>ap_fixed</a:t>
            </a:r>
            <a:r>
              <a:rPr lang="ro-RO" sz="1600" dirty="0">
                <a:solidFill>
                  <a:srgbClr val="2B2B2E"/>
                </a:solidFill>
                <a:latin typeface="UT Sans" panose="00000500000000000000" pitchFamily="2" charset="0"/>
              </a:rPr>
              <a:t>&lt;11,6&gt;</a:t>
            </a:r>
            <a:endParaRPr lang="ro-RO" dirty="0">
              <a:latin typeface="UT Sans" panose="00000500000000000000" pitchFamily="2" charset="0"/>
              <a:ea typeface="UT Symbols" charset="0"/>
              <a:cs typeface="UT Symbols" charset="0"/>
            </a:endParaRPr>
          </a:p>
          <a:p>
            <a:pPr marL="342900" indent="-342900">
              <a:buBlip>
                <a:blip r:embed="rId5"/>
              </a:buBlip>
            </a:pPr>
            <a:r>
              <a:rPr lang="ro-RO" dirty="0">
                <a:latin typeface="UT Sans" panose="00000500000000000000" pitchFamily="2" charset="0"/>
                <a:ea typeface="UT Symbols" charset="0"/>
                <a:cs typeface="UT Symbols" charset="0"/>
              </a:rPr>
              <a:t>Optimizare HLS </a:t>
            </a:r>
          </a:p>
          <a:p>
            <a:pPr marL="342900" indent="-342900">
              <a:buBlip>
                <a:blip r:embed="rId5"/>
              </a:buBlip>
            </a:pPr>
            <a:r>
              <a:rPr lang="ro-RO" dirty="0">
                <a:latin typeface="UT Sans" panose="00000500000000000000" pitchFamily="2" charset="0"/>
                <a:ea typeface="UT Symbols" charset="0"/>
                <a:cs typeface="UT Symbols" charset="0"/>
              </a:rPr>
              <a:t>Interfațare: AXI </a:t>
            </a:r>
            <a:r>
              <a:rPr lang="ro-RO" dirty="0" err="1">
                <a:latin typeface="UT Sans" panose="00000500000000000000" pitchFamily="2" charset="0"/>
                <a:ea typeface="UT Symbols" charset="0"/>
                <a:cs typeface="UT Symbols" charset="0"/>
              </a:rPr>
              <a:t>Stream</a:t>
            </a:r>
            <a:r>
              <a:rPr lang="ro-RO" dirty="0">
                <a:latin typeface="UT Sans" panose="00000500000000000000" pitchFamily="2" charset="0"/>
                <a:ea typeface="UT Symbols" charset="0"/>
                <a:cs typeface="UT Symbols" charset="0"/>
              </a:rPr>
              <a:t> (date) + AXI-</a:t>
            </a:r>
            <a:r>
              <a:rPr lang="ro-RO" dirty="0" err="1">
                <a:latin typeface="UT Sans" panose="00000500000000000000" pitchFamily="2" charset="0"/>
                <a:ea typeface="UT Symbols" charset="0"/>
                <a:cs typeface="UT Symbols" charset="0"/>
              </a:rPr>
              <a:t>Lite</a:t>
            </a:r>
            <a:r>
              <a:rPr lang="ro-RO" dirty="0">
                <a:latin typeface="UT Sans" panose="00000500000000000000" pitchFamily="2" charset="0"/>
                <a:ea typeface="UT Symbols" charset="0"/>
                <a:cs typeface="UT Symbols" charset="0"/>
              </a:rPr>
              <a:t> (control) </a:t>
            </a:r>
          </a:p>
        </p:txBody>
      </p:sp>
      <p:sp>
        <p:nvSpPr>
          <p:cNvPr id="11" name="Rounded Rectangle 13">
            <a:extLst>
              <a:ext uri="{FF2B5EF4-FFF2-40B4-BE49-F238E27FC236}">
                <a16:creationId xmlns:a16="http://schemas.microsoft.com/office/drawing/2014/main" id="{FE555EAC-CB85-AA8B-CD92-51ED0B3B2506}"/>
              </a:ext>
            </a:extLst>
          </p:cNvPr>
          <p:cNvSpPr/>
          <p:nvPr/>
        </p:nvSpPr>
        <p:spPr>
          <a:xfrm>
            <a:off x="454541" y="4795570"/>
            <a:ext cx="3931920" cy="1280160"/>
          </a:xfrm>
          <a:prstGeom prst="roundRect">
            <a:avLst>
              <a:gd name="adj" fmla="val 6000"/>
            </a:avLst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1" dirty="0">
                <a:solidFill>
                  <a:srgbClr val="E07A1F"/>
                </a:solidFill>
                <a:latin typeface="Cambria"/>
              </a:rPr>
              <a:t>86,69% → 98,13%</a:t>
            </a:r>
            <a:endParaRPr lang="ro-RO" sz="2400" b="1" dirty="0">
              <a:solidFill>
                <a:srgbClr val="E07A1F"/>
              </a:solidFill>
              <a:latin typeface="Cambria"/>
            </a:endParaRPr>
          </a:p>
          <a:p>
            <a:pPr algn="ctr"/>
            <a:r>
              <a:rPr sz="1150" dirty="0" err="1">
                <a:solidFill>
                  <a:srgbClr val="2B2B2E"/>
                </a:solidFill>
                <a:latin typeface="Calibri"/>
              </a:rPr>
              <a:t>Acuratețe</a:t>
            </a:r>
            <a:r>
              <a:rPr sz="1150" dirty="0">
                <a:solidFill>
                  <a:srgbClr val="2B2B2E"/>
                </a:solidFill>
                <a:latin typeface="Calibri"/>
              </a:rPr>
              <a:t>: fixed-point uniform vs. </a:t>
            </a:r>
            <a:r>
              <a:rPr sz="1150" dirty="0" err="1">
                <a:solidFill>
                  <a:srgbClr val="2B2B2E"/>
                </a:solidFill>
                <a:latin typeface="Calibri"/>
              </a:rPr>
              <a:t>precizie</a:t>
            </a:r>
            <a:r>
              <a:rPr sz="1150" dirty="0">
                <a:solidFill>
                  <a:srgbClr val="2B2B2E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2B2B2E"/>
                </a:solidFill>
                <a:latin typeface="Calibri"/>
              </a:rPr>
              <a:t>mixtă</a:t>
            </a:r>
            <a:endParaRPr sz="1150" dirty="0">
              <a:solidFill>
                <a:srgbClr val="2B2B2E"/>
              </a:solidFill>
              <a:latin typeface="Calibri"/>
            </a:endParaRPr>
          </a:p>
        </p:txBody>
      </p:sp>
      <p:sp>
        <p:nvSpPr>
          <p:cNvPr id="12" name="Rounded Rectangle 14">
            <a:extLst>
              <a:ext uri="{FF2B5EF4-FFF2-40B4-BE49-F238E27FC236}">
                <a16:creationId xmlns:a16="http://schemas.microsoft.com/office/drawing/2014/main" id="{6072A39A-0154-3CE8-897B-94734F5763C1}"/>
              </a:ext>
            </a:extLst>
          </p:cNvPr>
          <p:cNvSpPr/>
          <p:nvPr/>
        </p:nvSpPr>
        <p:spPr>
          <a:xfrm>
            <a:off x="4896036" y="4795570"/>
            <a:ext cx="3931920" cy="1280160"/>
          </a:xfrm>
          <a:prstGeom prst="roundRect">
            <a:avLst>
              <a:gd name="adj" fmla="val 6000"/>
            </a:avLst>
          </a:prstGeom>
          <a:solidFill>
            <a:srgbClr val="F1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000" b="1" dirty="0">
                <a:solidFill>
                  <a:srgbClr val="E07A1F"/>
                </a:solidFill>
                <a:latin typeface="Cambria"/>
              </a:rPr>
              <a:t>-37,3%</a:t>
            </a:r>
          </a:p>
          <a:p>
            <a:pPr algn="ctr">
              <a:spcBef>
                <a:spcPts val="300"/>
              </a:spcBef>
            </a:pPr>
            <a:r>
              <a:rPr sz="1150" dirty="0" err="1">
                <a:solidFill>
                  <a:srgbClr val="2B2B2E"/>
                </a:solidFill>
                <a:latin typeface="Calibri"/>
              </a:rPr>
              <a:t>Reducere</a:t>
            </a:r>
            <a:r>
              <a:rPr sz="1150" dirty="0">
                <a:solidFill>
                  <a:srgbClr val="2B2B2E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2B2B2E"/>
                </a:solidFill>
                <a:latin typeface="Calibri"/>
              </a:rPr>
              <a:t>latență</a:t>
            </a:r>
            <a:r>
              <a:rPr sz="1150" dirty="0">
                <a:solidFill>
                  <a:srgbClr val="2B2B2E"/>
                </a:solidFill>
                <a:latin typeface="Calibri"/>
              </a:rPr>
              <a:t> HLS (12712 → 7976 </a:t>
            </a:r>
            <a:r>
              <a:rPr sz="1150" dirty="0" err="1">
                <a:solidFill>
                  <a:srgbClr val="2B2B2E"/>
                </a:solidFill>
                <a:latin typeface="Calibri"/>
              </a:rPr>
              <a:t>cicluri</a:t>
            </a:r>
            <a:r>
              <a:rPr sz="1150" dirty="0">
                <a:solidFill>
                  <a:srgbClr val="2B2B2E"/>
                </a:solidFill>
                <a:latin typeface="Calibri"/>
              </a:rPr>
              <a:t>, factor</a:t>
            </a:r>
            <a:r>
              <a:rPr lang="ro-RO" sz="1150" dirty="0">
                <a:solidFill>
                  <a:srgbClr val="2B2B2E"/>
                </a:solidFill>
                <a:latin typeface="Calibri"/>
              </a:rPr>
              <a:t> de paralelizare</a:t>
            </a:r>
            <a:r>
              <a:rPr sz="1150" dirty="0">
                <a:solidFill>
                  <a:srgbClr val="2B2B2E"/>
                </a:solidFill>
                <a:latin typeface="Calibri"/>
              </a:rPr>
              <a:t> 4</a:t>
            </a:r>
            <a:r>
              <a:rPr lang="ro-RO" sz="1150" dirty="0">
                <a:solidFill>
                  <a:srgbClr val="2B2B2E"/>
                </a:solidFill>
                <a:latin typeface="Calibri"/>
              </a:rPr>
              <a:t>)</a:t>
            </a:r>
            <a:endParaRPr sz="1150" dirty="0">
              <a:solidFill>
                <a:srgbClr val="2B2B2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2904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1"/>
            <a:ext cx="1944216" cy="531045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DB6A4A80-E4E8-31A3-9688-98A794528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636638"/>
            <a:ext cx="8294746" cy="4080871"/>
          </a:xfrm>
          <a:prstGeom prst="rect">
            <a:avLst/>
          </a:prstGeom>
        </p:spPr>
      </p:pic>
      <p:sp>
        <p:nvSpPr>
          <p:cNvPr id="9" name="CasetăText 8">
            <a:extLst>
              <a:ext uri="{FF2B5EF4-FFF2-40B4-BE49-F238E27FC236}">
                <a16:creationId xmlns:a16="http://schemas.microsoft.com/office/drawing/2014/main" id="{0CD97F24-B93F-65A4-7F63-9F8183D3C4FF}"/>
              </a:ext>
            </a:extLst>
          </p:cNvPr>
          <p:cNvSpPr txBox="1"/>
          <p:nvPr/>
        </p:nvSpPr>
        <p:spPr>
          <a:xfrm>
            <a:off x="647564" y="977678"/>
            <a:ext cx="63367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000" b="1" dirty="0">
                <a:latin typeface="UT Sans" panose="00000500000000000000" pitchFamily="2" charset="0"/>
              </a:rPr>
              <a:t>Integrarea acceleratorului în </a:t>
            </a:r>
            <a:r>
              <a:rPr lang="ro-RO" sz="3000" b="1" dirty="0" err="1">
                <a:latin typeface="UT Sans" panose="00000500000000000000" pitchFamily="2" charset="0"/>
              </a:rPr>
              <a:t>Vivado</a:t>
            </a:r>
            <a:endParaRPr lang="ro-RO" sz="3000" b="1" dirty="0">
              <a:latin typeface="UT Sa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293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F74C1-5727-B9EA-8BD0-5768235DC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695BA71-3440-4069-BC7D-B4B61A8E7D36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AF54FA2-3C43-E18A-31EC-5C4BBE7A78F6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C85B8ED-3964-D40B-0570-56408409830D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E2AEAE7E-0527-F5AE-2EE7-8F1576C112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1"/>
            <a:ext cx="1944216" cy="531045"/>
          </a:xfrm>
          <a:prstGeom prst="rect">
            <a:avLst/>
          </a:prstGeom>
        </p:spPr>
      </p:pic>
      <p:sp>
        <p:nvSpPr>
          <p:cNvPr id="3" name="CasetăText 2">
            <a:extLst>
              <a:ext uri="{FF2B5EF4-FFF2-40B4-BE49-F238E27FC236}">
                <a16:creationId xmlns:a16="http://schemas.microsoft.com/office/drawing/2014/main" id="{EA71C868-B3B0-C717-8838-C783B4A9780D}"/>
              </a:ext>
            </a:extLst>
          </p:cNvPr>
          <p:cNvSpPr txBox="1"/>
          <p:nvPr/>
        </p:nvSpPr>
        <p:spPr>
          <a:xfrm>
            <a:off x="683568" y="971850"/>
            <a:ext cx="63367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000" b="1" dirty="0">
                <a:latin typeface="UT Sans" panose="00000500000000000000" pitchFamily="2" charset="0"/>
              </a:rPr>
              <a:t>Arhitectura hardware-software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B17269F7-25DB-CC5D-09CB-6AB86B0800FE}"/>
              </a:ext>
            </a:extLst>
          </p:cNvPr>
          <p:cNvSpPr txBox="1"/>
          <p:nvPr/>
        </p:nvSpPr>
        <p:spPr>
          <a:xfrm>
            <a:off x="791072" y="2211750"/>
            <a:ext cx="8352928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Blip>
                <a:blip r:embed="rId3"/>
              </a:buBlip>
            </a:pPr>
            <a:r>
              <a:rPr lang="ro-RO" sz="1600" b="1" dirty="0" err="1">
                <a:latin typeface="UT Sans" panose="00000500000000000000" pitchFamily="2" charset="0"/>
              </a:rPr>
              <a:t>fpga_server</a:t>
            </a:r>
            <a:r>
              <a:rPr lang="ro-RO" sz="1600" dirty="0">
                <a:latin typeface="UT Sans" panose="00000500000000000000" pitchFamily="2" charset="0"/>
              </a:rPr>
              <a:t>  -</a:t>
            </a:r>
          </a:p>
          <a:p>
            <a:r>
              <a:rPr lang="ro-RO" sz="1400" dirty="0">
                <a:latin typeface="UT Sans" panose="00000500000000000000" pitchFamily="2" charset="0"/>
              </a:rPr>
              <a:t>primește datele și le scrie DDR</a:t>
            </a:r>
          </a:p>
          <a:p>
            <a:endParaRPr lang="ro-RO" sz="1400" dirty="0">
              <a:latin typeface="UT Sans" panose="00000500000000000000" pitchFamily="2" charset="0"/>
            </a:endParaRPr>
          </a:p>
          <a:p>
            <a:pPr marL="342900" indent="-342900">
              <a:buBlip>
                <a:blip r:embed="rId3"/>
              </a:buBlip>
            </a:pPr>
            <a:r>
              <a:rPr lang="ro-RO" sz="1600" b="1" dirty="0">
                <a:latin typeface="UT Sans" panose="00000500000000000000" pitchFamily="2" charset="0"/>
              </a:rPr>
              <a:t>AXI DMA</a:t>
            </a:r>
            <a:r>
              <a:rPr lang="ro-RO" sz="1600" dirty="0">
                <a:latin typeface="UT Sans" panose="00000500000000000000" pitchFamily="2" charset="0"/>
              </a:rPr>
              <a:t> -</a:t>
            </a:r>
          </a:p>
          <a:p>
            <a:r>
              <a:rPr lang="ro-RO" sz="1400" dirty="0">
                <a:latin typeface="UT Sans" panose="00000500000000000000" pitchFamily="2" charset="0"/>
              </a:rPr>
              <a:t>transferă datele către accelerator</a:t>
            </a:r>
          </a:p>
          <a:p>
            <a:r>
              <a:rPr lang="ro-RO" sz="1400" dirty="0">
                <a:latin typeface="UT Sans" panose="00000500000000000000" pitchFamily="2" charset="0"/>
              </a:rPr>
              <a:t>prin AXI </a:t>
            </a:r>
            <a:r>
              <a:rPr lang="ro-RO" sz="1400" dirty="0" err="1">
                <a:latin typeface="UT Sans" panose="00000500000000000000" pitchFamily="2" charset="0"/>
              </a:rPr>
              <a:t>Stream</a:t>
            </a:r>
            <a:r>
              <a:rPr lang="ro-RO" sz="1400" dirty="0">
                <a:latin typeface="UT Sans" panose="00000500000000000000" pitchFamily="2" charset="0"/>
              </a:rPr>
              <a:t> </a:t>
            </a:r>
          </a:p>
          <a:p>
            <a:endParaRPr lang="ro-RO" sz="1400" dirty="0">
              <a:latin typeface="UT Sans" panose="00000500000000000000" pitchFamily="2" charset="0"/>
            </a:endParaRPr>
          </a:p>
          <a:p>
            <a:pPr marL="342900" indent="-342900">
              <a:buBlip>
                <a:blip r:embed="rId3"/>
              </a:buBlip>
            </a:pPr>
            <a:r>
              <a:rPr lang="ro-RO" sz="1600" b="1" dirty="0">
                <a:latin typeface="UT Sans" panose="00000500000000000000" pitchFamily="2" charset="0"/>
              </a:rPr>
              <a:t>ACCELERATOR CNN</a:t>
            </a:r>
            <a:r>
              <a:rPr lang="ro-RO" sz="1600" dirty="0">
                <a:latin typeface="UT Sans" panose="00000500000000000000" pitchFamily="2" charset="0"/>
              </a:rPr>
              <a:t> -</a:t>
            </a:r>
          </a:p>
          <a:p>
            <a:r>
              <a:rPr lang="ro-RO" sz="1400" dirty="0">
                <a:latin typeface="UT Sans" panose="00000500000000000000" pitchFamily="2" charset="0"/>
              </a:rPr>
              <a:t>calculează cele 10 scoruri</a:t>
            </a:r>
          </a:p>
          <a:p>
            <a:r>
              <a:rPr lang="ro-RO" sz="1400" dirty="0">
                <a:latin typeface="UT Sans" panose="00000500000000000000" pitchFamily="2" charset="0"/>
              </a:rPr>
              <a:t>le scrie înapoi in DDR </a:t>
            </a:r>
          </a:p>
          <a:p>
            <a:endParaRPr lang="ro-RO" sz="1400" dirty="0">
              <a:latin typeface="UT Sans" panose="00000500000000000000" pitchFamily="2" charset="0"/>
            </a:endParaRPr>
          </a:p>
          <a:p>
            <a:pPr marL="342900" indent="-342900">
              <a:buBlip>
                <a:blip r:embed="rId3"/>
              </a:buBlip>
            </a:pPr>
            <a:r>
              <a:rPr lang="ro-RO" sz="1600" b="1" dirty="0" err="1">
                <a:latin typeface="UT Sans" panose="00000500000000000000" pitchFamily="2" charset="0"/>
              </a:rPr>
              <a:t>fpga_server</a:t>
            </a:r>
            <a:endParaRPr lang="ro-RO" sz="1600" b="1" dirty="0">
              <a:latin typeface="UT Sans" panose="00000500000000000000" pitchFamily="2" charset="0"/>
            </a:endParaRPr>
          </a:p>
          <a:p>
            <a:r>
              <a:rPr lang="ro-RO" sz="1400" dirty="0">
                <a:latin typeface="UT Sans" panose="00000500000000000000" pitchFamily="2" charset="0"/>
              </a:rPr>
              <a:t> alege cifra finală (</a:t>
            </a:r>
            <a:r>
              <a:rPr lang="ro-RO" sz="1400" dirty="0" err="1">
                <a:latin typeface="UT Sans" panose="00000500000000000000" pitchFamily="2" charset="0"/>
              </a:rPr>
              <a:t>argmax</a:t>
            </a:r>
            <a:r>
              <a:rPr lang="ro-RO" sz="1400" dirty="0">
                <a:latin typeface="UT Sans" panose="00000500000000000000" pitchFamily="2" charset="0"/>
              </a:rPr>
              <a:t>)</a:t>
            </a:r>
            <a:endParaRPr lang="ro-RO" sz="1400" dirty="0">
              <a:latin typeface="UT Sans" panose="00000500000000000000" pitchFamily="2" charset="0"/>
              <a:ea typeface="UT Symbols" charset="0"/>
              <a:cs typeface="UT Symbols" charset="0"/>
            </a:endParaRPr>
          </a:p>
        </p:txBody>
      </p:sp>
      <p:pic>
        <p:nvPicPr>
          <p:cNvPr id="7" name="Imagine 6">
            <a:extLst>
              <a:ext uri="{FF2B5EF4-FFF2-40B4-BE49-F238E27FC236}">
                <a16:creationId xmlns:a16="http://schemas.microsoft.com/office/drawing/2014/main" id="{30933F9A-F4E0-F9DC-D7A8-E5608DDE40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460" y="2069953"/>
            <a:ext cx="5480173" cy="326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26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7D26A-DA72-9B5B-B214-80194FE4A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ECB3908-4A3C-59BB-0340-522C342AC71F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6760409-C723-FA8A-0EC7-46F2DB202BB6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DB3867B-C208-1730-20EF-7C9CA38B6744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1E07C239-B160-C520-06C8-59134269A4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1"/>
            <a:ext cx="1944216" cy="531045"/>
          </a:xfrm>
          <a:prstGeom prst="rect">
            <a:avLst/>
          </a:prstGeom>
        </p:spPr>
      </p:pic>
      <p:sp>
        <p:nvSpPr>
          <p:cNvPr id="8" name="Titlu 7">
            <a:extLst>
              <a:ext uri="{FF2B5EF4-FFF2-40B4-BE49-F238E27FC236}">
                <a16:creationId xmlns:a16="http://schemas.microsoft.com/office/drawing/2014/main" id="{6B62209D-CE62-CC56-ABFE-184FB08FF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732" y="760096"/>
            <a:ext cx="7886700" cy="1325563"/>
          </a:xfrm>
        </p:spPr>
        <p:txBody>
          <a:bodyPr>
            <a:normAutofit/>
          </a:bodyPr>
          <a:lstStyle/>
          <a:p>
            <a:r>
              <a:rPr lang="ro-RO" b="1" dirty="0">
                <a:latin typeface="UT Sans" panose="00000500000000000000" pitchFamily="2" charset="0"/>
              </a:rPr>
              <a:t>Rezultate experimentale</a:t>
            </a: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0D47D080-3099-8076-FB47-883F3E46718B}"/>
              </a:ext>
            </a:extLst>
          </p:cNvPr>
          <p:cNvSpPr txBox="1"/>
          <p:nvPr/>
        </p:nvSpPr>
        <p:spPr>
          <a:xfrm>
            <a:off x="6480212" y="3167391"/>
            <a:ext cx="24688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600"/>
              </a:spcBef>
            </a:pPr>
            <a:r>
              <a:rPr lang="ro-RO" sz="1400" dirty="0">
                <a:solidFill>
                  <a:srgbClr val="2B2B2E"/>
                </a:solidFill>
                <a:latin typeface="UT Sans" panose="00000500000000000000" pitchFamily="2" charset="0"/>
              </a:rPr>
              <a:t>mai rapid decât execuția pe CPU/GPU, per imagine</a:t>
            </a:r>
          </a:p>
        </p:txBody>
      </p:sp>
      <p:graphicFrame>
        <p:nvGraphicFramePr>
          <p:cNvPr id="20" name="Diagramă 19">
            <a:extLst>
              <a:ext uri="{FF2B5EF4-FFF2-40B4-BE49-F238E27FC236}">
                <a16:creationId xmlns:a16="http://schemas.microsoft.com/office/drawing/2014/main" id="{8AE5A0EC-6446-7BC1-77CE-8053664BD2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2061643"/>
              </p:ext>
            </p:extLst>
          </p:nvPr>
        </p:nvGraphicFramePr>
        <p:xfrm>
          <a:off x="1328029" y="1973038"/>
          <a:ext cx="4980117" cy="32921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26658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51F5F-124D-FEB6-E856-BE23793AD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01BD5-CFC2-9D46-E431-0EC44E2A132F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C7D44A6-9EFD-C437-218F-9D8893A1468B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7CB675E-FC94-38F0-43C7-3F6CF8EC83E6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82391B1-C3BF-A9E5-260F-19C97874EC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1"/>
            <a:ext cx="1944216" cy="531045"/>
          </a:xfrm>
          <a:prstGeom prst="rect">
            <a:avLst/>
          </a:prstGeom>
        </p:spPr>
      </p:pic>
      <p:sp>
        <p:nvSpPr>
          <p:cNvPr id="8" name="Titlu 7">
            <a:extLst>
              <a:ext uri="{FF2B5EF4-FFF2-40B4-BE49-F238E27FC236}">
                <a16:creationId xmlns:a16="http://schemas.microsoft.com/office/drawing/2014/main" id="{1F69156E-AD25-3B7E-E24E-3D7A31451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353" y="764704"/>
            <a:ext cx="7886700" cy="1325563"/>
          </a:xfrm>
        </p:spPr>
        <p:txBody>
          <a:bodyPr>
            <a:normAutofit/>
          </a:bodyPr>
          <a:lstStyle/>
          <a:p>
            <a:r>
              <a:rPr lang="ro-RO" b="1" dirty="0">
                <a:latin typeface="UT Sans" panose="00000500000000000000" pitchFamily="2" charset="0"/>
              </a:rPr>
              <a:t>Concluzii</a:t>
            </a:r>
            <a:br>
              <a:rPr lang="ro-RO" b="1" dirty="0">
                <a:latin typeface="UT Sans" panose="00000500000000000000" pitchFamily="2" charset="0"/>
              </a:rPr>
            </a:br>
            <a:endParaRPr lang="ro-RO" b="1" dirty="0">
              <a:latin typeface="UT Sans" panose="00000500000000000000" pitchFamily="2" charset="0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35F94697-17D5-ED64-F760-F72FACA5A774}"/>
              </a:ext>
            </a:extLst>
          </p:cNvPr>
          <p:cNvSpPr txBox="1"/>
          <p:nvPr/>
        </p:nvSpPr>
        <p:spPr>
          <a:xfrm>
            <a:off x="372832" y="1700808"/>
            <a:ext cx="866366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Blip>
                <a:blip r:embed="rId3"/>
              </a:buBlip>
            </a:pPr>
            <a:r>
              <a:rPr lang="ro-RO" dirty="0">
                <a:latin typeface="UT Sans" panose="00000500000000000000" pitchFamily="2" charset="0"/>
              </a:rPr>
              <a:t>Sistemul realizează recunoașterea cifrelor scrise de mână, de la achiziția imaginii până la afișarea rezultatului. </a:t>
            </a:r>
          </a:p>
          <a:p>
            <a:pPr algn="just"/>
            <a:endParaRPr lang="ro-RO" dirty="0">
              <a:latin typeface="UT Sans" panose="00000500000000000000" pitchFamily="2" charset="0"/>
            </a:endParaRPr>
          </a:p>
          <a:p>
            <a:pPr marL="342900" indent="-342900" algn="just">
              <a:buBlip>
                <a:blip r:embed="rId3"/>
              </a:buBlip>
            </a:pPr>
            <a:r>
              <a:rPr lang="ro-RO" dirty="0">
                <a:latin typeface="UT Sans" panose="00000500000000000000" pitchFamily="2" charset="0"/>
              </a:rPr>
              <a:t>Rețeaua CNN, antrenată în </a:t>
            </a:r>
            <a:r>
              <a:rPr lang="ro-RO" dirty="0" err="1">
                <a:latin typeface="UT Sans" panose="00000500000000000000" pitchFamily="2" charset="0"/>
              </a:rPr>
              <a:t>TensorFlow</a:t>
            </a:r>
            <a:r>
              <a:rPr lang="ro-RO" dirty="0">
                <a:latin typeface="UT Sans" panose="00000500000000000000" pitchFamily="2" charset="0"/>
              </a:rPr>
              <a:t>, a fost convertită și optimizată ca accelerator hardware în </a:t>
            </a:r>
            <a:r>
              <a:rPr lang="ro-RO" dirty="0" err="1">
                <a:latin typeface="UT Sans" panose="00000500000000000000" pitchFamily="2" charset="0"/>
              </a:rPr>
              <a:t>Vitis</a:t>
            </a:r>
            <a:r>
              <a:rPr lang="ro-RO" dirty="0">
                <a:latin typeface="UT Sans" panose="00000500000000000000" pitchFamily="2" charset="0"/>
              </a:rPr>
              <a:t> HLS. </a:t>
            </a:r>
          </a:p>
          <a:p>
            <a:pPr algn="just"/>
            <a:endParaRPr lang="ro-RO" dirty="0">
              <a:latin typeface="UT Sans" panose="00000500000000000000" pitchFamily="2" charset="0"/>
            </a:endParaRPr>
          </a:p>
          <a:p>
            <a:pPr marL="342900" indent="-342900" algn="just">
              <a:buBlip>
                <a:blip r:embed="rId3"/>
              </a:buBlip>
            </a:pPr>
            <a:r>
              <a:rPr lang="ro-RO" dirty="0">
                <a:latin typeface="UT Sans" panose="00000500000000000000" pitchFamily="2" charset="0"/>
              </a:rPr>
              <a:t>Acceleratorul, integrat pe </a:t>
            </a:r>
            <a:r>
              <a:rPr lang="ro-RO" dirty="0" err="1">
                <a:latin typeface="UT Sans" panose="00000500000000000000" pitchFamily="2" charset="0"/>
              </a:rPr>
              <a:t>ZedBoard</a:t>
            </a:r>
            <a:r>
              <a:rPr lang="ro-RO" dirty="0">
                <a:latin typeface="UT Sans" panose="00000500000000000000" pitchFamily="2" charset="0"/>
              </a:rPr>
              <a:t>, rulează inferența mai rapid decât execuția pe CPU sau GPU. </a:t>
            </a:r>
          </a:p>
          <a:p>
            <a:pPr algn="just"/>
            <a:endParaRPr lang="ro-RO" dirty="0">
              <a:latin typeface="UT Sans" panose="00000500000000000000" pitchFamily="2" charset="0"/>
            </a:endParaRPr>
          </a:p>
          <a:p>
            <a:pPr marL="342900" indent="-342900" algn="just">
              <a:buBlip>
                <a:blip r:embed="rId3"/>
              </a:buBlip>
            </a:pPr>
            <a:r>
              <a:rPr lang="ro-RO" dirty="0">
                <a:latin typeface="UT Sans" panose="00000500000000000000" pitchFamily="2" charset="0"/>
              </a:rPr>
              <a:t>Proiectul demonstrează un flux complet, funcțional, de la modelul software până la implementarea hardware pe FPGA.</a:t>
            </a:r>
          </a:p>
        </p:txBody>
      </p:sp>
    </p:spTree>
    <p:extLst>
      <p:ext uri="{BB962C8B-B14F-4D97-AF65-F5344CB8AC3E}">
        <p14:creationId xmlns:p14="http://schemas.microsoft.com/office/powerpoint/2010/main" val="470678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1881</TotalTime>
  <Words>352</Words>
  <Application>Microsoft Office PowerPoint</Application>
  <PresentationFormat>Expunere pe ecran (4:3)</PresentationFormat>
  <Paragraphs>65</Paragraphs>
  <Slides>9</Slides>
  <Notes>2</Notes>
  <HiddenSlides>0</HiddenSlides>
  <MMClips>0</MMClips>
  <ScaleCrop>false</ScaleCrop>
  <HeadingPairs>
    <vt:vector size="6" baseType="variant">
      <vt:variant>
        <vt:lpstr>Fonturi utilizate</vt:lpstr>
      </vt:variant>
      <vt:variant>
        <vt:i4>6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UT Sans</vt:lpstr>
      <vt:lpstr>UT Sans Bold</vt:lpstr>
      <vt:lpstr>Office Theme</vt:lpstr>
      <vt:lpstr>Prezentare PowerPoint</vt:lpstr>
      <vt:lpstr>Prezentare PowerPoint</vt:lpstr>
      <vt:lpstr>Prezentare PowerPoint</vt:lpstr>
      <vt:lpstr>Prezentare PowerPoint</vt:lpstr>
      <vt:lpstr>Accelerator hardware (Vitis HLS)</vt:lpstr>
      <vt:lpstr>Prezentare PowerPoint</vt:lpstr>
      <vt:lpstr>Prezentare PowerPoint</vt:lpstr>
      <vt:lpstr>Rezultate experimentale</vt:lpstr>
      <vt:lpstr>Concluzii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Maria Tertiu</cp:lastModifiedBy>
  <cp:revision>38</cp:revision>
  <dcterms:created xsi:type="dcterms:W3CDTF">2017-10-19T09:49:50Z</dcterms:created>
  <dcterms:modified xsi:type="dcterms:W3CDTF">2026-07-03T11:02:07Z</dcterms:modified>
</cp:coreProperties>
</file>